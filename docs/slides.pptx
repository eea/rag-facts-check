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notesMaster" Target="notesMasters/notesMaster1.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Standard RAG is great at finding relevant documents, but the generation step remains a black box. In policy and regulatory contexts, hallucinations are rarely obvious nonsense. They are subtle: an LLM might say a net-zero milestone is legally binding by 2035 instead of 2050, or quote a temperature rise of 5.7°C instead of 2.0 to 4.0°C. That single discrepancy undermines the entire platform’s credibility.</a:t>
            </a:r>
          </a:p>
          <a:p>
            <a:pPr lvl="0" indent="0" marL="0">
              <a:buNone/>
            </a:pPr>
          </a:p>
          <a:p>
            <a:pPr lvl="0" indent="0" marL="0">
              <a:buNone/>
            </a:pPr>
            <a:r>
              <a:rPr/>
              <a:t>When teams try to build verification for this, they hit three practical walls: First, long answers—especially rich markdown tables comparing climate impacts across sectors—routinely hit model output token ceilings, cutting verification off halfway through the response. Second, source documents scraped from official portals have erratic formatting, linebreaks, and OCR noise, causing exact string matching to fail completely. And third, calling an LLM sequentially for dozens of individual claims takes 45 to 60 seconds, which kills interactive chat UX.</a:t>
            </a:r>
          </a:p>
          <a:p>
            <a:pPr lvl="0" indent="0" marL="0">
              <a:buNone/>
            </a:pPr>
          </a:p>
          <a:p>
            <a:pPr lvl="0" indent="0" marL="0">
              <a:buNone/>
            </a:pPr>
            <a:r>
              <a:rPr/>
              <a:t>We designed RAG Facts Check specifically to overcome every single one of these production hurdles.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the architectural blueprint. RAG Facts Check runs as a lightweight, containerized FastAPI service. In our deployment with the European Environment Agency, Plone and the LLM generate the answer along with cited sources.</a:t>
            </a:r>
          </a:p>
          <a:p>
            <a:pPr lvl="0" indent="0" marL="0">
              <a:buNone/>
            </a:pPr>
          </a:p>
          <a:p>
            <a:pPr lvl="0" indent="0" marL="0">
              <a:buNone/>
            </a:pPr>
            <a:r>
              <a:rPr/>
              <a:t>Immediately after generation, the Volto frontend issues an asynchronous request to our /halloumi/generate endpoint.</a:t>
            </a:r>
          </a:p>
          <a:p>
            <a:pPr lvl="0" indent="0" marL="0">
              <a:buNone/>
            </a:pPr>
          </a:p>
          <a:p>
            <a:pPr lvl="0" indent="0" marL="0">
              <a:buNone/>
            </a:pPr>
            <a:r>
              <a:rPr/>
              <a:t>Inside the engine, the request flows through four modular stages managed by RAGFactsChecker: First, the answer text is chunked without destroying table formatting. Second, atomic claims are extracted with character offsets mapped to the master answer. Third, the claims are batched and verified against the source documents in a single pass. Fourth, verbatim evidence quotes are resolved into exact character spans in the original source texts. Finally, a calibrated 0-to-10 score is computed, and the payload is returned to the frontend.</a:t>
            </a:r>
          </a:p>
          <a:p>
            <a:pPr lvl="0" indent="0" marL="0">
              <a:buNone/>
            </a:pPr>
          </a:p>
          <a:p>
            <a:pPr lvl="0" indent="0" marL="0">
              <a:buNone/>
            </a:pPr>
            <a:r>
              <a:rPr/>
              <a:t>Let’s look closer at how we solved the long-answer truncation problem in step one.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of our earliest discoveries was that chatbot answers frequently include markdown comparison tables. If you send an 8-row table to an LLM extractor in one prompt, the model runs out of output tokens before it reaches the summary at the bottom. The table is only half-checked, and concluding recommendations aren’t checked at all.</a:t>
            </a:r>
          </a:p>
          <a:p>
            <a:pPr lvl="0" indent="0" marL="0">
              <a:buNone/>
            </a:pPr>
          </a:p>
          <a:p>
            <a:pPr lvl="0" indent="0" marL="0">
              <a:buNone/>
            </a:pPr>
            <a:r>
              <a:rPr/>
              <a:t>If you naively slice a markdown table by character count, the second chunk loses the header row, meaning the LLM has no idea what column a cell belongs to.</a:t>
            </a:r>
          </a:p>
          <a:p>
            <a:pPr lvl="0" indent="0" marL="0">
              <a:buNone/>
            </a:pPr>
          </a:p>
          <a:p>
            <a:pPr lvl="0" indent="0" marL="0">
              <a:buNone/>
            </a:pPr>
            <a:r>
              <a:rPr/>
              <a:t>Our solution, implemented in split_answer_into_chunks, parses markdown table structures. When a table must be split, it preserves row integrity and automatically duplicates the header row into subsequent chunks.</a:t>
            </a:r>
          </a:p>
          <a:p>
            <a:pPr lvl="0" indent="0" marL="0">
              <a:buNone/>
            </a:pPr>
          </a:p>
          <a:p>
            <a:pPr lvl="0" indent="0" marL="0">
              <a:buNone/>
            </a:pPr>
            <a:r>
              <a:rPr/>
              <a:t>We then recalibrate the character offsets back into the master answer coordinates and deduplicate overlapping claims. This gives us 100% extraction coverage on long, structured policy responses.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Verification latency is make-or-break for a chatbot. If a user has to wait a minute for verification highlights, they will navigate away.</a:t>
            </a:r>
          </a:p>
          <a:p>
            <a:pPr lvl="0" indent="0" marL="0">
              <a:buNone/>
            </a:pPr>
          </a:p>
          <a:p>
            <a:pPr lvl="0" indent="0" marL="0">
              <a:buNone/>
            </a:pPr>
            <a:r>
              <a:rPr/>
              <a:t>In ClaimVerifier, we solve this with two key techniques:</a:t>
            </a:r>
          </a:p>
          <a:p>
            <a:pPr lvl="0" indent="0" marL="0">
              <a:buNone/>
            </a:pPr>
          </a:p>
          <a:p>
            <a:pPr lvl="0" indent="0" marL="0">
              <a:buNone/>
            </a:pPr>
            <a:r>
              <a:rPr/>
              <a:t>First, batching. Rather than firing one LLM call per claim, we evaluate batches of up to 20 claims simultaneously. Second, prompt architecture designed for KV-cache prefix reuse. We place the static reference documents at the beginning of the prompt. Modern inference engines like vLLM and llama.cpp recognize that this prefix hasn’t changed, so GPU memory reuses the pre-computed key-value cache rather than re-ingesting tens of thousands of document tokens.</a:t>
            </a:r>
          </a:p>
          <a:p>
            <a:pPr lvl="0" indent="0" marL="0">
              <a:buNone/>
            </a:pPr>
          </a:p>
          <a:p>
            <a:pPr lvl="0" indent="0" marL="0">
              <a:buNone/>
            </a:pPr>
            <a:r>
              <a:rPr/>
              <a:t>In addition, our frontend passes only the documents explicitly cited in the answer rather than the full set of 50 search chunks. Together, these optimizations drop verification latency from over 45 seconds down to 5 to 12 seconds.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Once the model identifies evidence, it cites a verbatim snippet. But anyone who has worked with real document pipelines knows what happens next: string matching fails.</a:t>
            </a:r>
          </a:p>
          <a:p>
            <a:pPr lvl="0" indent="0" marL="0">
              <a:buNone/>
            </a:pPr>
          </a:p>
          <a:p>
            <a:pPr lvl="0" indent="0" marL="0">
              <a:buNone/>
            </a:pPr>
            <a:r>
              <a:rPr/>
              <a:t>Official documents converted from PDF or HTML are full of hard newlines, soft hyphens, and weird spaces. Furthermore, LLMs love adding smart quotes or ellipses to their evidence citations.</a:t>
            </a:r>
          </a:p>
          <a:p>
            <a:pPr lvl="0" indent="0" marL="0">
              <a:buNone/>
            </a:pPr>
          </a:p>
          <a:p>
            <a:pPr lvl="0" indent="0" marL="0">
              <a:buNone/>
            </a:pPr>
            <a:r>
              <a:rPr/>
              <a:t>To ensure citations never break, we developed a 4-stage matching hierarchy in find_evidence_span_in_doc. It first strips framing quotes and ellipses. It tries an exact match. If that fails, it compiles a whitespace-flexible regular expression that treats line breaks and multiple spaces as single wildcards. If that fails, it allows punctuation variations. And as a final safety net, it uses fuzzy sequence alignment.</a:t>
            </a:r>
          </a:p>
          <a:p>
            <a:pPr lvl="0" indent="0" marL="0">
              <a:buNone/>
            </a:pPr>
          </a:p>
          <a:p>
            <a:pPr lvl="0" indent="0" marL="0">
              <a:buNone/>
            </a:pPr>
            <a:r>
              <a:rPr/>
              <a:t>This guarantees that whenever the LLM cites true source evidence, we resolve the exact character coordinates in the original document so the user can inspect it.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Users do not want an opaque ‘Pass’ or ‘Fail’. They need calibrated, actionable transparency.</a:t>
            </a:r>
          </a:p>
          <a:p>
            <a:pPr lvl="0" indent="0" marL="0">
              <a:buNone/>
            </a:pPr>
          </a:p>
          <a:p>
            <a:pPr lvl="0" indent="0" marL="0">
              <a:buNone/>
            </a:pPr>
            <a:r>
              <a:rPr/>
              <a:t>In models.py and checker.py, we compute a deterministic 0-to-10 Answer Quality Score. Supported claims earn full credit, uncited claims receive a proportional penalty, and direct contradictions hit the score with a heavy penalty multiplier.</a:t>
            </a:r>
          </a:p>
          <a:p>
            <a:pPr lvl="0" indent="0" marL="0">
              <a:buNone/>
            </a:pPr>
          </a:p>
          <a:p>
            <a:pPr lvl="0" indent="0" marL="0">
              <a:buNone/>
            </a:pPr>
            <a:r>
              <a:rPr/>
              <a:t>In the Volto user interface, this translates into immediate visual clarity: An overall score badge—like ‘8.5 / 10 Good’—sits at the top. Every sentence in the answer is highlighted. Green means fully verified, and hovering over it reveals the exact quote from the European legislation. Yellow alerts the user that a claim lacks direct source backing, and red immediately flags a contradiction.</a:t>
            </a:r>
          </a:p>
          <a:p>
            <a:pPr lvl="0" indent="0" marL="0">
              <a:buNone/>
            </a:pPr>
          </a:p>
          <a:p>
            <a:pPr lvl="0" indent="0" marL="0">
              <a:buNone/>
            </a:pPr>
            <a:r>
              <a:rPr/>
              <a:t>This shifts the user dynamic from blind skepticism to confident, auditable reading.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RAG Facts Check is not a prototype; it is engineered for production reliability.</a:t>
            </a:r>
          </a:p>
          <a:p>
            <a:pPr lvl="0" indent="0" marL="0">
              <a:buNone/>
            </a:pPr>
          </a:p>
          <a:p>
            <a:pPr lvl="0" indent="0" marL="0">
              <a:buNone/>
            </a:pPr>
            <a:r>
              <a:rPr/>
              <a:t>Because it provides native /halloumi/generate endpoint compatibility, the frontend team didn’t need to rebuild their UI. They simply pointed their proxy to our service.</a:t>
            </a:r>
          </a:p>
          <a:p>
            <a:pPr lvl="0" indent="0" marL="0">
              <a:buNone/>
            </a:pPr>
          </a:p>
          <a:p>
            <a:pPr lvl="0" indent="0" marL="0">
              <a:buNone/>
            </a:pPr>
            <a:r>
              <a:rPr/>
              <a:t>Every LLM response is enforced via structured Pydantic schemas using Instructor, eliminating JSON parsing errors. The codebase is backed by 190 automated tests with over 87% core module coverage, verifying everything from table splitting edge cases to regex span tolerance. It builds into a clean Docker container deployable in any Kubernetes or cloud environment.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 wrap up: RAG Facts Check bridges the trust gap in enterprise RAG. By pairing markdown-aware claim extraction with KV-cache batching and 4-stage span matching, we’ve delivered a fact-checking pipeline that is accurate, resilient to noisy data, and fast enough for interactive use.</a:t>
            </a:r>
          </a:p>
          <a:p>
            <a:pPr lvl="0" indent="0" marL="0">
              <a:buNone/>
            </a:pPr>
          </a:p>
          <a:p>
            <a:pPr lvl="0" indent="0" marL="0">
              <a:buNone/>
            </a:pPr>
            <a:r>
              <a:rPr/>
              <a:t>Looking ahead, we are exploring dedicated local NLI models to push verification latencies even lower, as well as cross-document consensus checking.</a:t>
            </a:r>
          </a:p>
          <a:p>
            <a:pPr lvl="0" indent="0" marL="0">
              <a:buNone/>
            </a:pPr>
          </a:p>
          <a:p>
            <a:pPr lvl="0" indent="0" marL="0">
              <a:buNone/>
            </a:pPr>
            <a:r>
              <a:rPr/>
              <a:t>Thank you for your time, and I look forward to your questions.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RAG Facts Check</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Automated Claim-Level Verification for Enterprise RAG</a:t>
            </a:r>
            <a:br/>
            <a:br/>
            <a:r>
              <a:rPr/>
              <a:t>European Environment Agency (EEA) / Plone Chatbot</a:t>
            </a:r>
          </a:p>
        </p:txBody>
      </p:sp>
      <p:sp>
        <p:nvSpPr>
          <p:cNvPr id="4" name="Date Placeholder 3"/>
          <p:cNvSpPr>
            <a:spLocks noGrp="1"/>
          </p:cNvSpPr>
          <p:nvPr>
            <p:ph idx="10" sz="half" type="dt"/>
          </p:nvPr>
        </p:nvSpPr>
        <p:spPr/>
        <p:txBody>
          <a:bodyPr/>
          <a:lstStyle/>
          <a:p>
            <a:pPr lvl="0" indent="0" marL="0">
              <a:buNone/>
            </a:pPr>
            <a:r>
              <a:rPr/>
              <a:t>September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Enterprise RAG “Trust Gap”</a:t>
            </a:r>
          </a:p>
        </p:txBody>
      </p:sp>
      <p:sp>
        <p:nvSpPr>
          <p:cNvPr id="3" name="Content Placeholder 2"/>
          <p:cNvSpPr>
            <a:spLocks noGrp="1"/>
          </p:cNvSpPr>
          <p:nvPr>
            <p:ph idx="1" sz="half"/>
          </p:nvPr>
        </p:nvSpPr>
        <p:spPr/>
        <p:txBody>
          <a:bodyPr/>
          <a:lstStyle/>
          <a:p>
            <a:pPr lvl="0" indent="0" marL="0">
              <a:spcBef>
                <a:spcPts val="3000"/>
              </a:spcBef>
              <a:buNone/>
            </a:pPr>
            <a:r>
              <a:rPr b="1"/>
              <a:t>The Core Challenges</a:t>
            </a:r>
          </a:p>
          <a:p>
            <a:pPr lvl="0"/>
            <a:r>
              <a:rPr b="1"/>
              <a:t>Subtle, High-Stakes Hallucinations</a:t>
            </a:r>
          </a:p>
          <a:p>
            <a:pPr lvl="1"/>
            <a:r>
              <a:rPr/>
              <a:t>Not obvious gibberish, but shifted policy dates (2035 vs 2050) or temperature baselines (5.7°C vs 2.0–4.0°C).</a:t>
            </a:r>
          </a:p>
          <a:p>
            <a:pPr lvl="0"/>
            <a:r>
              <a:rPr b="1"/>
              <a:t>The Token Generation Limit</a:t>
            </a:r>
          </a:p>
          <a:p>
            <a:pPr lvl="1"/>
            <a:r>
              <a:rPr/>
              <a:t>Rich answers with 8+ row comparison tables exceed LLM output budgets, truncating one-pass extraction mid-answer.</a:t>
            </a:r>
          </a:p>
          <a:p>
            <a:pPr lvl="0"/>
            <a:r>
              <a:rPr b="1"/>
              <a:t>Unstructured Source Disconnect</a:t>
            </a:r>
          </a:p>
          <a:p>
            <a:pPr lvl="1"/>
            <a:r>
              <a:rPr/>
              <a:t>Scraped PDFs and HTML have hard line breaks, OCR shifts, and hyphenation that break naive string matching.</a:t>
            </a:r>
          </a:p>
        </p:txBody>
      </p:sp>
      <p:sp>
        <p:nvSpPr>
          <p:cNvPr id="4" name="Content Placeholder 3"/>
          <p:cNvSpPr>
            <a:spLocks noGrp="1"/>
          </p:cNvSpPr>
          <p:nvPr>
            <p:ph idx="2" sz="half"/>
          </p:nvPr>
        </p:nvSpPr>
        <p:spPr/>
        <p:txBody>
          <a:bodyPr/>
          <a:lstStyle/>
          <a:p>
            <a:pPr lvl="0" indent="0" marL="0">
              <a:spcBef>
                <a:spcPts val="3000"/>
              </a:spcBef>
              <a:buNone/>
            </a:pPr>
            <a:r>
              <a:rPr b="1"/>
              <a:t>Operational Impact</a:t>
            </a:r>
          </a:p>
          <a:p>
            <a:pPr lvl="0"/>
            <a:r>
              <a:rPr b="1"/>
              <a:t>Loss of Stakeholder Trust</a:t>
            </a:r>
          </a:p>
          <a:p>
            <a:pPr lvl="1"/>
            <a:r>
              <a:rPr/>
              <a:t>A single incorrect regulatory date invalidates the entire response.</a:t>
            </a:r>
          </a:p>
          <a:p>
            <a:pPr lvl="0"/>
            <a:r>
              <a:rPr b="1"/>
              <a:t>Latency Bottlenecks</a:t>
            </a:r>
          </a:p>
          <a:p>
            <a:pPr lvl="1"/>
            <a:r>
              <a:rPr/>
              <a:t>Checking 20 claims serially against 30KB of documents takes 45–60s+, breaking interactive chat UX.</a:t>
            </a:r>
          </a:p>
          <a:p>
            <a:pPr lvl="0"/>
            <a:r>
              <a:rPr b="1"/>
              <a:t>The Need</a:t>
            </a:r>
          </a:p>
          <a:p>
            <a:pPr lvl="1"/>
            <a:r>
              <a:rPr/>
              <a:t>Granular, sub-sentence verification with exact character attribution and real-time speed.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System Architecture: End-to-End Pipeline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Stage</a:t>
                      </a:r>
                    </a:p>
                  </a:txBody>
                  <a:tcPr/>
                </a:tc>
                <a:tc>
                  <a:txBody>
                    <a:bodyPr/>
                    <a:lstStyle/>
                    <a:p>
                      <a:pPr lvl="0" indent="0" marL="0">
                        <a:buNone/>
                      </a:pPr>
                      <a:r>
                        <a:rPr/>
                        <a:t>Component</a:t>
                      </a:r>
                    </a:p>
                  </a:txBody>
                  <a:tcPr/>
                </a:tc>
                <a:tc>
                  <a:txBody>
                    <a:bodyPr/>
                    <a:lstStyle/>
                    <a:p>
                      <a:pPr lvl="0" indent="0" marL="0">
                        <a:buNone/>
                      </a:pPr>
                      <a:r>
                        <a:rPr/>
                        <a:t>Core Function</a:t>
                      </a:r>
                    </a:p>
                  </a:txBody>
                  <a:tcPr/>
                </a:tc>
              </a:tr>
              <a:tr h="0">
                <a:tc>
                  <a:txBody>
                    <a:bodyPr/>
                    <a:lstStyle/>
                    <a:p>
                      <a:pPr lvl="0" indent="0" marL="0">
                        <a:buNone/>
                      </a:pPr>
                      <a:r>
                        <a:rPr b="1"/>
                        <a:t>1. Ingestion</a:t>
                      </a:r>
                    </a:p>
                  </a:txBody>
                </a:tc>
                <a:tc>
                  <a:txBody>
                    <a:bodyPr/>
                    <a:lstStyle/>
                    <a:p>
                      <a:pPr lvl="0" indent="0" marL="0">
                        <a:buNone/>
                      </a:pPr>
                      <a:r>
                        <a:rPr>
                          <a:latin typeface="Courier"/>
                        </a:rPr>
                        <a:t>POST /halloumi/generate</a:t>
                      </a:r>
                    </a:p>
                  </a:txBody>
                </a:tc>
                <a:tc>
                  <a:txBody>
                    <a:bodyPr/>
                    <a:lstStyle/>
                    <a:p>
                      <a:pPr lvl="0" indent="0" marL="0">
                        <a:buNone/>
                      </a:pPr>
                      <a:r>
                        <a:rPr/>
                        <a:t>Receives answer text + cited source documents</a:t>
                      </a:r>
                    </a:p>
                  </a:txBody>
                </a:tc>
              </a:tr>
              <a:tr h="0">
                <a:tc>
                  <a:txBody>
                    <a:bodyPr/>
                    <a:lstStyle/>
                    <a:p>
                      <a:pPr lvl="0" indent="0" marL="0">
                        <a:buNone/>
                      </a:pPr>
                      <a:r>
                        <a:rPr b="1"/>
                        <a:t>2. Chunking</a:t>
                      </a:r>
                    </a:p>
                  </a:txBody>
                </a:tc>
                <a:tc>
                  <a:txBody>
                    <a:bodyPr/>
                    <a:lstStyle/>
                    <a:p>
                      <a:pPr lvl="0" indent="0" marL="0">
                        <a:buNone/>
                      </a:pPr>
                      <a:r>
                        <a:rPr>
                          <a:latin typeface="Courier"/>
                        </a:rPr>
                        <a:t>split_answer_into_chunks</a:t>
                      </a:r>
                    </a:p>
                  </a:txBody>
                </a:tc>
                <a:tc>
                  <a:txBody>
                    <a:bodyPr/>
                    <a:lstStyle/>
                    <a:p>
                      <a:pPr lvl="0" indent="0" marL="0">
                        <a:buNone/>
                      </a:pPr>
                      <a:r>
                        <a:rPr/>
                        <a:t>Preserves markdown tables &amp; replicates header rows</a:t>
                      </a:r>
                    </a:p>
                  </a:txBody>
                </a:tc>
              </a:tr>
              <a:tr h="0">
                <a:tc>
                  <a:txBody>
                    <a:bodyPr/>
                    <a:lstStyle/>
                    <a:p>
                      <a:pPr lvl="0" indent="0" marL="0">
                        <a:buNone/>
                      </a:pPr>
                      <a:r>
                        <a:rPr b="1"/>
                        <a:t>3. Extraction</a:t>
                      </a:r>
                    </a:p>
                  </a:txBody>
                </a:tc>
                <a:tc>
                  <a:txBody>
                    <a:bodyPr/>
                    <a:lstStyle/>
                    <a:p>
                      <a:pPr lvl="0" indent="0" marL="0">
                        <a:buNone/>
                      </a:pPr>
                      <a:r>
                        <a:rPr>
                          <a:latin typeface="Courier"/>
                        </a:rPr>
                        <a:t>ClaimExtractor</a:t>
                      </a:r>
                    </a:p>
                  </a:txBody>
                </a:tc>
                <a:tc>
                  <a:txBody>
                    <a:bodyPr/>
                    <a:lstStyle/>
                    <a:p>
                      <a:pPr lvl="0" indent="0" marL="0">
                        <a:buNone/>
                      </a:pPr>
                      <a:r>
                        <a:rPr/>
                        <a:t>Extracts atomic claims with answer span coordinates</a:t>
                      </a:r>
                    </a:p>
                  </a:txBody>
                </a:tc>
              </a:tr>
              <a:tr h="0">
                <a:tc>
                  <a:txBody>
                    <a:bodyPr/>
                    <a:lstStyle/>
                    <a:p>
                      <a:pPr lvl="0" indent="0" marL="0">
                        <a:buNone/>
                      </a:pPr>
                      <a:r>
                        <a:rPr b="1"/>
                        <a:t>4. Verification</a:t>
                      </a:r>
                    </a:p>
                  </a:txBody>
                </a:tc>
                <a:tc>
                  <a:txBody>
                    <a:bodyPr/>
                    <a:lstStyle/>
                    <a:p>
                      <a:pPr lvl="0" indent="0" marL="0">
                        <a:buNone/>
                      </a:pPr>
                      <a:r>
                        <a:rPr>
                          <a:latin typeface="Courier"/>
                        </a:rPr>
                        <a:t>ClaimVerifier</a:t>
                      </a:r>
                    </a:p>
                  </a:txBody>
                </a:tc>
                <a:tc>
                  <a:txBody>
                    <a:bodyPr/>
                    <a:lstStyle/>
                    <a:p>
                      <a:pPr lvl="0" indent="0" marL="0">
                        <a:buNone/>
                      </a:pPr>
                      <a:r>
                        <a:rPr/>
                        <a:t>Batches claims &amp; verifies against docs via KV-cache reuse</a:t>
                      </a:r>
                    </a:p>
                  </a:txBody>
                </a:tc>
              </a:tr>
              <a:tr h="0">
                <a:tc>
                  <a:txBody>
                    <a:bodyPr/>
                    <a:lstStyle/>
                    <a:p>
                      <a:pPr lvl="0" indent="0" marL="0">
                        <a:buNone/>
                      </a:pPr>
                      <a:r>
                        <a:rPr b="1"/>
                        <a:t>5. Alignment</a:t>
                      </a:r>
                    </a:p>
                  </a:txBody>
                </a:tc>
                <a:tc>
                  <a:txBody>
                    <a:bodyPr/>
                    <a:lstStyle/>
                    <a:p>
                      <a:pPr lvl="0" indent="0" marL="0">
                        <a:buNone/>
                      </a:pPr>
                      <a:r>
                        <a:rPr>
                          <a:latin typeface="Courier"/>
                        </a:rPr>
                        <a:t>find_evidence_span_in_doc</a:t>
                      </a:r>
                    </a:p>
                  </a:txBody>
                </a:tc>
                <a:tc>
                  <a:txBody>
                    <a:bodyPr/>
                    <a:lstStyle/>
                    <a:p>
                      <a:pPr lvl="0" indent="0" marL="0">
                        <a:buNone/>
                      </a:pPr>
                      <a:r>
                        <a:rPr/>
                        <a:t>4-stage hierarchy maps evidence quotes to exact doc offsets</a:t>
                      </a:r>
                    </a:p>
                  </a:txBody>
                </a:tc>
              </a:tr>
              <a:tr h="0">
                <a:tc>
                  <a:txBody>
                    <a:bodyPr/>
                    <a:lstStyle/>
                    <a:p>
                      <a:pPr lvl="0" indent="0" marL="0">
                        <a:buNone/>
                      </a:pPr>
                      <a:r>
                        <a:rPr b="1"/>
                        <a:t>6. Aggregation</a:t>
                      </a:r>
                    </a:p>
                  </a:txBody>
                </a:tc>
                <a:tc>
                  <a:txBody>
                    <a:bodyPr/>
                    <a:lstStyle/>
                    <a:p>
                      <a:pPr lvl="0" indent="0" marL="0">
                        <a:buNone/>
                      </a:pPr>
                      <a:r>
                        <a:rPr>
                          <a:latin typeface="Courier"/>
                        </a:rPr>
                        <a:t>RAGFactsChecker._aggregate</a:t>
                      </a:r>
                    </a:p>
                  </a:txBody>
                </a:tc>
                <a:tc>
                  <a:txBody>
                    <a:bodyPr/>
                    <a:lstStyle/>
                    <a:p>
                      <a:pPr lvl="0" indent="0" marL="0">
                        <a:buNone/>
                      </a:pPr>
                      <a:r>
                        <a:rPr/>
                        <a:t>Computes 0–10 quality score &amp; formats Volto segments</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Innovation 1: Markdown-Aware Chunked Extraction</a:t>
            </a:r>
          </a:p>
        </p:txBody>
      </p:sp>
      <p:sp>
        <p:nvSpPr>
          <p:cNvPr id="3" name="Content Placeholder 2"/>
          <p:cNvSpPr>
            <a:spLocks noGrp="1"/>
          </p:cNvSpPr>
          <p:nvPr>
            <p:ph idx="1" sz="half"/>
          </p:nvPr>
        </p:nvSpPr>
        <p:spPr/>
        <p:txBody>
          <a:bodyPr/>
          <a:lstStyle/>
          <a:p>
            <a:pPr lvl="0" indent="0" marL="0">
              <a:spcBef>
                <a:spcPts val="3000"/>
              </a:spcBef>
              <a:buNone/>
            </a:pPr>
            <a:r>
              <a:rPr b="1"/>
              <a:t>Preserving Table Semantics</a:t>
            </a:r>
          </a:p>
          <a:p>
            <a:pPr lvl="0"/>
            <a:r>
              <a:rPr b="1"/>
              <a:t>The Ceiling:</a:t>
            </a:r>
            <a:r>
              <a:rPr/>
              <a:t> Answers &gt;2,000 characters with large comparison tables exceed </a:t>
            </a:r>
            <a:r>
              <a:rPr>
                <a:latin typeface="Courier"/>
              </a:rPr>
              <a:t>max_new_tokens = 2048</a:t>
            </a:r>
            <a:r>
              <a:rPr/>
              <a:t>.</a:t>
            </a:r>
          </a:p>
          <a:p>
            <a:pPr lvl="0"/>
            <a:r>
              <a:rPr b="1"/>
              <a:t>Header Replication:</a:t>
            </a:r>
            <a:r>
              <a:rPr/>
              <a:t> </a:t>
            </a:r>
            <a:r>
              <a:rPr>
                <a:latin typeface="Courier"/>
              </a:rPr>
              <a:t>split_answer_into_chunks()</a:t>
            </a:r>
            <a:r>
              <a:rPr/>
              <a:t> splits large tables row-by-row while </a:t>
            </a:r>
            <a:r>
              <a:rPr b="1"/>
              <a:t>copying the header row into every chunk</a:t>
            </a:r>
            <a:r>
              <a:rPr/>
              <a:t>.</a:t>
            </a:r>
          </a:p>
          <a:p>
            <a:pPr lvl="0"/>
            <a:r>
              <a:rPr b="1"/>
              <a:t>Context Retention:</a:t>
            </a:r>
            <a:r>
              <a:rPr/>
              <a:t> The LLM always understands column definitions for every row, even in chunk 3 or 4.</a:t>
            </a:r>
          </a:p>
          <a:p>
            <a:pPr lvl="0"/>
            <a:r>
              <a:rPr b="1"/>
              <a:t>Section Merging:</a:t>
            </a:r>
            <a:r>
              <a:rPr/>
              <a:t> Small headings and lead paragraphs are merged to ensure sufficient context.</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spcBef>
                    <a:spcPts val="3000"/>
                  </a:spcBef>
                  <a:buNone/>
                </a:pPr>
                <a:r>
                  <a:rPr b="1"/>
                  <a:t>Coordinate Recalibration</a:t>
                </a:r>
              </a:p>
              <a:p>
                <a:pPr lvl="0"/>
                <a:r>
                  <a:rPr b="1"/>
                  <a:t>Offset Tracking:</a:t>
                </a:r>
                <a:r>
                  <a:rPr/>
                  <a:t> Each chunk tracks its offset relative to the master answer:</a:t>
                </a:r>
              </a:p>
              <a:p>
                <a:pPr lvl="0"/>
                <a14:m>
                  <m:oMathPara xmlns:m="http://schemas.openxmlformats.org/officeDocument/2006/math">
                    <m:oMathParaPr>
                      <m:jc m:val="center"/>
                    </m:oMathParaPr>
                    <m:oMath>
                      <m:r>
                        <m:rPr>
                          <m:nor/>
                          <m:sty m:val="p"/>
                        </m:rPr>
                        <m:t>master_offset</m:t>
                      </m:r>
                      <m:r>
                        <m:rPr>
                          <m:sty m:val="p"/>
                        </m:rPr>
                        <m:t>=</m:t>
                      </m:r>
                      <m:r>
                        <m:rPr>
                          <m:nor/>
                          <m:sty m:val="p"/>
                        </m:rPr>
                        <m:t>chunk_start</m:t>
                      </m:r>
                      <m:r>
                        <m:rPr>
                          <m:sty m:val="p"/>
                        </m:rPr>
                        <m:t>+</m:t>
                      </m:r>
                      <m:r>
                        <m:rPr>
                          <m:nor/>
                          <m:sty m:val="p"/>
                        </m:rPr>
                        <m:t>local_span</m:t>
                      </m:r>
                    </m:oMath>
                  </m:oMathPara>
                </a14:m>
              </a:p>
              <a:p>
                <a:pPr lvl="0"/>
                <a:r>
                  <a:rPr b="1"/>
                  <a:t>Span Deduplication:</a:t>
                </a:r>
                <a:r>
                  <a:rPr/>
                  <a:t> Overlapping claims extracted at chunk boundaries are deduplicated and re-indexed.</a:t>
                </a:r>
              </a:p>
              <a:p>
                <a:pPr lvl="0"/>
                <a:r>
                  <a:rPr b="1"/>
                  <a:t>Guarantee:</a:t>
                </a:r>
                <a:r>
                  <a:rPr/>
                  <a:t> 100% claim coverage across long answers and tables.</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Innovation 2: KV-Cache Prefix Reuse &amp; Batch Verification</a:t>
            </a:r>
          </a:p>
        </p:txBody>
      </p:sp>
      <p:sp>
        <p:nvSpPr>
          <p:cNvPr id="3" name="Content Placeholder 2"/>
          <p:cNvSpPr>
            <a:spLocks noGrp="1"/>
          </p:cNvSpPr>
          <p:nvPr>
            <p:ph idx="1" sz="half"/>
          </p:nvPr>
        </p:nvSpPr>
        <p:spPr/>
        <p:txBody>
          <a:bodyPr/>
          <a:lstStyle/>
          <a:p>
            <a:pPr lvl="0" indent="0" marL="0">
              <a:spcBef>
                <a:spcPts val="3000"/>
              </a:spcBef>
              <a:buNone/>
            </a:pPr>
            <a:r>
              <a:rPr b="1"/>
              <a:t>The Performance Breakthrough</a:t>
            </a:r>
          </a:p>
          <a:p>
            <a:pPr lvl="0"/>
            <a:r>
              <a:rPr b="1"/>
              <a:t>The Latency Trap:</a:t>
            </a:r>
          </a:p>
          <a:p>
            <a:pPr lvl="1"/>
            <a:r>
              <a:rPr/>
              <a:t>Sequential check: 20 claims × 2.5s = </a:t>
            </a:r>
            <a:r>
              <a:rPr b="1"/>
              <a:t>50 seconds</a:t>
            </a:r>
            <a:r>
              <a:rPr/>
              <a:t> (Unviable in chat).</a:t>
            </a:r>
          </a:p>
          <a:p>
            <a:pPr lvl="1"/>
            <a:r>
              <a:rPr/>
              <a:t>Batched check: 20 claims in 1 prompt = </a:t>
            </a:r>
            <a:r>
              <a:rPr b="1"/>
              <a:t>5–12 seconds</a:t>
            </a:r>
            <a:r>
              <a:rPr/>
              <a:t> (&gt;70% faster).</a:t>
            </a:r>
          </a:p>
          <a:p>
            <a:pPr lvl="0"/>
            <a:r>
              <a:rPr b="1"/>
              <a:t>Static Prefix Ordering:</a:t>
            </a:r>
          </a:p>
          <a:p>
            <a:pPr lvl="1"/>
            <a:r>
              <a:rPr/>
              <a:t>Source documents placed at the </a:t>
            </a:r>
            <a:r>
              <a:rPr b="1"/>
              <a:t>very start</a:t>
            </a:r>
            <a:r>
              <a:rPr/>
              <a:t> of the verification prompt.</a:t>
            </a:r>
          </a:p>
          <a:p>
            <a:pPr lvl="1"/>
            <a:r>
              <a:rPr/>
              <a:t>Local engines (</a:t>
            </a:r>
            <a:r>
              <a:rPr>
                <a:latin typeface="Courier"/>
              </a:rPr>
              <a:t>vLLM</a:t>
            </a:r>
            <a:r>
              <a:rPr/>
              <a:t>, </a:t>
            </a:r>
            <a:r>
              <a:rPr>
                <a:latin typeface="Courier"/>
              </a:rPr>
              <a:t>llama.cpp</a:t>
            </a:r>
            <a:r>
              <a:rPr/>
              <a:t>) compute document tokens once and reuse the pre-computed KV-cache prefix.</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spcBef>
                    <a:spcPts val="3000"/>
                  </a:spcBef>
                  <a:buNone/>
                </a:pPr>
                <a:r>
                  <a:rPr b="1"/>
                  <a:t>Targeted Context Filtering</a:t>
                </a:r>
              </a:p>
              <a:p>
                <a:pPr lvl="0"/>
                <a:r>
                  <a:rPr b="1"/>
                  <a:t>Context Selection (</a:t>
                </a:r>
                <a:r>
                  <a:rPr b="1">
                    <a:latin typeface="Courier"/>
                  </a:rPr>
                  <a:t>qualityCheckContext</a:t>
                </a:r>
                <a:r>
                  <a:rPr b="1"/>
                  <a:t>):</a:t>
                </a:r>
              </a:p>
              <a:p>
                <a:pPr lvl="1"/>
                <a:r>
                  <a:rPr>
                    <a:latin typeface="Courier"/>
                  </a:rPr>
                  <a:t>'all'</a:t>
                </a:r>
                <a:r>
                  <a:rPr/>
                  <a:t>: 15–50 search chunks (~150KB) </a:t>
                </a:r>
                <a14:m>
                  <m:oMath xmlns:m="http://schemas.openxmlformats.org/officeDocument/2006/math">
                    <m:r>
                      <m:rPr>
                        <m:sty m:val="p"/>
                      </m:rPr>
                      <m:t>→</m:t>
                    </m:r>
                  </m:oMath>
                </a14:m>
                <a:r>
                  <a:rPr/>
                  <a:t> High prefill overhead.</a:t>
                </a:r>
              </a:p>
              <a:p>
                <a:pPr lvl="1"/>
                <a:r>
                  <a:rPr>
                    <a:latin typeface="Courier"/>
                  </a:rPr>
                  <a:t>'citations'</a:t>
                </a:r>
                <a:r>
                  <a:rPr/>
                  <a:t> </a:t>
                </a:r>
                <a:r>
                  <a:rPr i="1"/>
                  <a:t>(Recommended)</a:t>
                </a:r>
                <a:r>
                  <a:rPr/>
                  <a:t>: Only cited sources (2–4 docs, ~25KB) </a:t>
                </a:r>
                <a14:m>
                  <m:oMath xmlns:m="http://schemas.openxmlformats.org/officeDocument/2006/math">
                    <m:r>
                      <m:rPr>
                        <m:sty m:val="p"/>
                      </m:rPr>
                      <m:t>→</m:t>
                    </m:r>
                  </m:oMath>
                </a14:m>
                <a:r>
                  <a:rPr/>
                  <a:t> Instant prefill.</a:t>
                </a:r>
              </a:p>
              <a:p>
                <a:pPr lvl="0"/>
                <a:r>
                  <a:rPr/>
                  <a:t>Matches the exact context used by the generation model.</a:t>
                </a:r>
              </a:p>
              <a:p>
                <a:pPr lvl="0"/>
                <a:r>
                  <a:rPr/>
                  <a:t>Eliminates noise from unconsulted documents.</a:t>
                </a: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Innovation 3: 4-Stage Resilient Evidence Span Matching</a:t>
            </a:r>
          </a:p>
        </p:txBody>
      </p:sp>
      <p:sp>
        <p:nvSpPr>
          <p:cNvPr id="3" name="Content Placeholder 2"/>
          <p:cNvSpPr>
            <a:spLocks noGrp="1"/>
          </p:cNvSpPr>
          <p:nvPr>
            <p:ph idx="1" sz="half"/>
          </p:nvPr>
        </p:nvSpPr>
        <p:spPr/>
        <p:txBody>
          <a:bodyPr/>
          <a:lstStyle/>
          <a:p>
            <a:pPr lvl="0" indent="0" marL="0">
              <a:spcBef>
                <a:spcPts val="3000"/>
              </a:spcBef>
              <a:buNone/>
            </a:pPr>
            <a:r>
              <a:rPr b="1"/>
              <a:t>The Matching Hierarchy (</a:t>
            </a:r>
            <a:r>
              <a:rPr b="1">
                <a:latin typeface="Courier"/>
              </a:rPr>
              <a:t>spans.py</a:t>
            </a:r>
            <a:r>
              <a:rPr b="1"/>
              <a:t>)</a:t>
            </a:r>
          </a:p>
          <a:p>
            <a:pPr lvl="0" indent="-342900" marL="342900">
              <a:buAutoNum type="arabicPeriod"/>
            </a:pPr>
            <a:r>
              <a:rPr b="1"/>
              <a:t>Quote &amp; Ellipsis Stripping:</a:t>
            </a:r>
          </a:p>
          <a:p>
            <a:pPr lvl="1"/>
            <a:r>
              <a:rPr/>
              <a:t>Cleans surrounding quotes (</a:t>
            </a:r>
            <a:r>
              <a:rPr>
                <a:latin typeface="Courier"/>
              </a:rPr>
              <a:t>"</a:t>
            </a:r>
            <a:r>
              <a:rPr/>
              <a:t>, </a:t>
            </a:r>
            <a:r>
              <a:rPr>
                <a:latin typeface="Courier"/>
              </a:rPr>
              <a:t>'</a:t>
            </a:r>
            <a:r>
              <a:rPr/>
              <a:t>, </a:t>
            </a:r>
            <a:r>
              <a:rPr>
                <a:latin typeface="Courier"/>
              </a:rPr>
              <a:t>“</a:t>
            </a:r>
            <a:r>
              <a:rPr/>
              <a:t>, </a:t>
            </a:r>
            <a:r>
              <a:rPr>
                <a:latin typeface="Courier"/>
              </a:rPr>
              <a:t>”</a:t>
            </a:r>
            <a:r>
              <a:rPr/>
              <a:t>) and ellipses (</a:t>
            </a:r>
            <a:r>
              <a:rPr>
                <a:latin typeface="Courier"/>
              </a:rPr>
              <a:t>...</a:t>
            </a:r>
            <a:r>
              <a:rPr/>
              <a:t>).</a:t>
            </a:r>
          </a:p>
          <a:p>
            <a:pPr lvl="0" indent="-342900" marL="342900">
              <a:buAutoNum type="arabicPeriod"/>
            </a:pPr>
            <a:r>
              <a:rPr b="1"/>
              <a:t>Exact Match:</a:t>
            </a:r>
          </a:p>
          <a:p>
            <a:pPr lvl="1"/>
            <a:r>
              <a:rPr/>
              <a:t>Instant substring index lookup.</a:t>
            </a:r>
          </a:p>
          <a:p>
            <a:pPr lvl="0" indent="-342900" marL="342900">
              <a:buAutoNum type="arabicPeriod"/>
            </a:pPr>
            <a:r>
              <a:rPr b="1"/>
              <a:t>Whitespace Regex (</a:t>
            </a:r>
            <a:r>
              <a:rPr b="1">
                <a:latin typeface="Courier"/>
              </a:rPr>
              <a:t>\s+</a:t>
            </a:r>
            <a:r>
              <a:rPr b="1"/>
              <a:t>):</a:t>
            </a:r>
          </a:p>
          <a:p>
            <a:pPr lvl="1"/>
            <a:r>
              <a:rPr/>
              <a:t>Matches quotes across linebreaks (</a:t>
            </a:r>
            <a:r>
              <a:rPr>
                <a:latin typeface="Courier"/>
              </a:rPr>
              <a:t>\n</a:t>
            </a:r>
            <a:r>
              <a:rPr/>
              <a:t>), tabs, and multiple spaces.</a:t>
            </a:r>
          </a:p>
          <a:p>
            <a:pPr lvl="0" indent="-342900" marL="342900">
              <a:buAutoNum type="arabicPeriod"/>
            </a:pPr>
            <a:r>
              <a:rPr b="1"/>
              <a:t>Punctuation Regex (</a:t>
            </a:r>
            <a:r>
              <a:rPr b="1">
                <a:latin typeface="Courier"/>
              </a:rPr>
              <a:t>[\W_]+</a:t>
            </a:r>
            <a:r>
              <a:rPr b="1"/>
              <a:t>):</a:t>
            </a:r>
          </a:p>
          <a:p>
            <a:pPr lvl="1"/>
            <a:r>
              <a:rPr/>
              <a:t>Tolerates hyphenation across lines and punctuation shifts.</a:t>
            </a:r>
          </a:p>
          <a:p>
            <a:pPr lvl="0" indent="-342900" marL="342900">
              <a:buAutoNum type="arabicPeriod"/>
            </a:pPr>
            <a:r>
              <a:rPr b="1"/>
              <a:t>Fuzzy Sequence Alignment:</a:t>
            </a:r>
          </a:p>
          <a:p>
            <a:pPr lvl="1"/>
            <a:r>
              <a:rPr/>
              <a:t>Fallback via </a:t>
            </a:r>
            <a:r>
              <a:rPr>
                <a:latin typeface="Courier"/>
              </a:rPr>
              <a:t>difflib.SequenceMatcher</a:t>
            </a:r>
            <a:r>
              <a:rPr/>
              <a:t> for minor paraphrasing.</a:t>
            </a:r>
          </a:p>
        </p:txBody>
      </p:sp>
      <p:sp>
        <p:nvSpPr>
          <p:cNvPr id="4" name="Content Placeholder 3"/>
          <p:cNvSpPr>
            <a:spLocks noGrp="1"/>
          </p:cNvSpPr>
          <p:nvPr>
            <p:ph idx="2" sz="half"/>
          </p:nvPr>
        </p:nvSpPr>
        <p:spPr/>
        <p:txBody>
          <a:bodyPr/>
          <a:lstStyle/>
          <a:p>
            <a:pPr lvl="0" indent="0" marL="0">
              <a:spcBef>
                <a:spcPts val="3000"/>
              </a:spcBef>
              <a:buNone/>
            </a:pPr>
            <a:r>
              <a:rPr b="1"/>
              <a:t>Why It Matters</a:t>
            </a:r>
          </a:p>
          <a:p>
            <a:pPr lvl="0"/>
            <a:r>
              <a:rPr b="1"/>
              <a:t>Messy Data Reality:</a:t>
            </a:r>
          </a:p>
          <a:p>
            <a:pPr lvl="1"/>
            <a:r>
              <a:rPr/>
              <a:t>Scraped PDFs and HTML briefings have formatting quirks.</a:t>
            </a:r>
          </a:p>
          <a:p>
            <a:pPr lvl="0"/>
            <a:r>
              <a:rPr b="1"/>
              <a:t>LLM Tendencies:</a:t>
            </a:r>
          </a:p>
          <a:p>
            <a:pPr lvl="1"/>
            <a:r>
              <a:rPr/>
              <a:t>Models frequently add decorative quotes or truncate citations.</a:t>
            </a:r>
          </a:p>
          <a:p>
            <a:pPr lvl="0"/>
            <a:r>
              <a:rPr b="1"/>
              <a:t>Outcome:</a:t>
            </a:r>
          </a:p>
          <a:p>
            <a:pPr lvl="1"/>
            <a:r>
              <a:rPr/>
              <a:t>Robust </a:t>
            </a:r>
            <a:r>
              <a:rPr>
                <a:latin typeface="Courier"/>
              </a:rPr>
              <a:t>{startOffset, endOffset}</a:t>
            </a:r>
            <a:r>
              <a:rPr/>
              <a:t> coordinates for UI tooltips without brittle exact-match failures.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Calibrated Quality Scoring &amp; Frontend UX</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Deterministic 0–10 Formula</a:t>
                </a:r>
              </a:p>
              <a:p>
                <a:pPr lvl="0" indent="0" marL="0">
                  <a:buNone/>
                </a:pPr>
                <a14:m>
                  <m:oMathPara xmlns:m="http://schemas.openxmlformats.org/officeDocument/2006/math">
                    <m:oMathParaPr>
                      <m:jc m:val="center"/>
                    </m:oMathParaPr>
                    <m:oMath>
                      <m:r>
                        <m:rPr>
                          <m:nor/>
                          <m:sty m:val="p"/>
                        </m:rPr>
                        <m:t>Score</m:t>
                      </m:r>
                      <m:r>
                        <m:rPr>
                          <m:sty m:val="p"/>
                        </m:rPr>
                        <m:t>=</m:t>
                      </m:r>
                      <m:r>
                        <m:rPr>
                          <m:nor/>
                          <m:sty m:val="p"/>
                        </m:rPr>
                        <m:t>clamp</m:t>
                      </m:r>
                      <m:r>
                        <m:rPr>
                          <m:sty m:val="p"/>
                        </m:rPr>
                        <m:t>(</m:t>
                      </m:r>
                      <m:r>
                        <m:rPr>
                          <m:nor/>
                          <m:sty m:val="p"/>
                        </m:rPr>
                        <m:t>Base</m:t>
                      </m:r>
                      <m:r>
                        <m:rPr>
                          <m:sty m:val="p"/>
                        </m:rPr>
                        <m:t>×</m:t>
                      </m:r>
                      <m:sSub>
                        <m:e>
                          <m:r>
                            <m:t>P</m:t>
                          </m:r>
                        </m:e>
                        <m:sub>
                          <m:r>
                            <m:rPr>
                              <m:nor/>
                              <m:sty m:val="p"/>
                            </m:rPr>
                            <m:t>cite</m:t>
                          </m:r>
                        </m:sub>
                      </m:sSub>
                      <m:r>
                        <m:rPr>
                          <m:sty m:val="p"/>
                        </m:rPr>
                        <m:t>×</m:t>
                      </m:r>
                      <m:sSub>
                        <m:e>
                          <m:r>
                            <m:t>P</m:t>
                          </m:r>
                        </m:e>
                        <m:sub>
                          <m:r>
                            <m:rPr>
                              <m:nor/>
                              <m:sty m:val="p"/>
                            </m:rPr>
                            <m:t>contra</m:t>
                          </m:r>
                        </m:sub>
                      </m:sSub>
                      <m:r>
                        <m:rPr>
                          <m:sty m:val="p"/>
                        </m:rPr>
                        <m:t>,</m:t>
                      </m:r>
                      <m:r>
                        <m:t> </m:t>
                      </m:r>
                      <m:r>
                        <m:t>0</m:t>
                      </m:r>
                      <m:r>
                        <m:rPr>
                          <m:sty m:val="p"/>
                        </m:rPr>
                        <m:t>,</m:t>
                      </m:r>
                      <m:r>
                        <m:t> </m:t>
                      </m:r>
                      <m:r>
                        <m:t>10</m:t>
                      </m:r>
                      <m:r>
                        <m:rPr>
                          <m:sty m:val="p"/>
                        </m:rPr>
                        <m:t>)</m:t>
                      </m:r>
                    </m:oMath>
                  </m:oMathPara>
                </a14:m>
              </a:p>
              <a:p>
                <a:pPr lvl="0"/>
                <a:r>
                  <a:rPr b="1"/>
                  <a:t>Groundedness Base (0–10):</a:t>
                </a:r>
              </a:p>
              <a:p>
                <a:pPr lvl="1"/>
                <a:r>
                  <a:rPr/>
                  <a:t>Supported = </a:t>
                </a:r>
                <a14:m>
                  <m:oMath xmlns:m="http://schemas.openxmlformats.org/officeDocument/2006/math">
                    <m:r>
                      <m:t>1.0</m:t>
                    </m:r>
                  </m:oMath>
                </a14:m>
                <a:r>
                  <a:rPr/>
                  <a:t> | Unverified = </a:t>
                </a:r>
                <a14:m>
                  <m:oMath xmlns:m="http://schemas.openxmlformats.org/officeDocument/2006/math">
                    <m:r>
                      <m:t>0.4</m:t>
                    </m:r>
                  </m:oMath>
                </a14:m>
                <a:r>
                  <a:rPr/>
                  <a:t> | Contradicted = </a:t>
                </a:r>
                <a14:m>
                  <m:oMath xmlns:m="http://schemas.openxmlformats.org/officeDocument/2006/math">
                    <m:r>
                      <m:t>0.0</m:t>
                    </m:r>
                  </m:oMath>
                </a14:m>
              </a:p>
              <a:p>
                <a:pPr lvl="0"/>
                <a:r>
                  <a:rPr b="1"/>
                  <a:t>Citation Penalty (</a:t>
                </a:r>
                <a14:m>
                  <m:oMath xmlns:m="http://schemas.openxmlformats.org/officeDocument/2006/math">
                    <m:sSub>
                      <m:e>
                        <m:r>
                          <m:t>P</m:t>
                        </m:r>
                      </m:e>
                      <m:sub>
                        <m:r>
                          <m:rPr>
                            <m:nor/>
                            <m:sty m:val="p"/>
                          </m:rPr>
                          <m:t>cite</m:t>
                        </m:r>
                      </m:sub>
                    </m:sSub>
                  </m:oMath>
                </a14:m>
                <a:r>
                  <a:rPr b="1"/>
                  <a:t>):</a:t>
                </a:r>
              </a:p>
              <a:p>
                <a:pPr lvl="1"/>
                <a:r>
                  <a:rPr/>
                  <a:t>Up to 30% reduction if claims lack matched source spans.</a:t>
                </a:r>
              </a:p>
              <a:p>
                <a:pPr lvl="0"/>
                <a:r>
                  <a:rPr b="1"/>
                  <a:t>Contradiction Penalty (</a:t>
                </a:r>
                <a14:m>
                  <m:oMath xmlns:m="http://schemas.openxmlformats.org/officeDocument/2006/math">
                    <m:sSub>
                      <m:e>
                        <m:r>
                          <m:t>P</m:t>
                        </m:r>
                      </m:e>
                      <m:sub>
                        <m:r>
                          <m:rPr>
                            <m:nor/>
                            <m:sty m:val="p"/>
                          </m:rPr>
                          <m:t>contra</m:t>
                        </m:r>
                      </m:sub>
                    </m:sSub>
                  </m:oMath>
                </a14:m>
                <a:r>
                  <a:rPr b="1"/>
                  <a:t>):</a:t>
                </a:r>
              </a:p>
              <a:p>
                <a:pPr lvl="1"/>
                <a:r>
                  <a:rPr/>
                  <a:t>Severe penalty; 33%+ contradicted floors score to 0.</a:t>
                </a:r>
              </a:p>
            </p:txBody>
          </p:sp>
        </mc:Choice>
      </mc:AlternateContent>
      <p:sp>
        <p:nvSpPr>
          <p:cNvPr id="4" name="Content Placeholder 3"/>
          <p:cNvSpPr>
            <a:spLocks noGrp="1"/>
          </p:cNvSpPr>
          <p:nvPr>
            <p:ph idx="2" sz="half"/>
          </p:nvPr>
        </p:nvSpPr>
        <p:spPr/>
        <p:txBody>
          <a:bodyPr/>
          <a:lstStyle/>
          <a:p>
            <a:pPr lvl="0" indent="0" marL="0">
              <a:spcBef>
                <a:spcPts val="3000"/>
              </a:spcBef>
              <a:buNone/>
            </a:pPr>
            <a:r>
              <a:rPr b="1"/>
              <a:t>Interactive Volto UI Experience</a:t>
            </a:r>
          </a:p>
          <a:p>
            <a:pPr lvl="0"/>
            <a:r>
              <a:rPr b="1"/>
              <a:t>Overall Score Badge:</a:t>
            </a:r>
          </a:p>
          <a:p>
            <a:pPr lvl="1"/>
            <a:r>
              <a:rPr/>
              <a:t>e.g. </a:t>
            </a:r>
            <a:r>
              <a:rPr>
                <a:latin typeface="Courier"/>
              </a:rPr>
              <a:t>8.5 / 10 Good</a:t>
            </a:r>
            <a:r>
              <a:rPr/>
              <a:t> (instant calibration).</a:t>
            </a:r>
          </a:p>
          <a:p>
            <a:pPr lvl="0"/>
            <a:r>
              <a:rPr b="1"/>
              <a:t>Inline Text Highlights:</a:t>
            </a:r>
          </a:p>
          <a:p>
            <a:pPr lvl="1"/>
            <a:r>
              <a:rPr/>
              <a:t>🟢 </a:t>
            </a:r>
            <a:r>
              <a:rPr b="1"/>
              <a:t>Green:</a:t>
            </a:r>
            <a:r>
              <a:rPr/>
              <a:t> Verified claim with source evidence tooltip.</a:t>
            </a:r>
          </a:p>
          <a:p>
            <a:pPr lvl="1"/>
            <a:r>
              <a:rPr/>
              <a:t>🟡 </a:t>
            </a:r>
            <a:r>
              <a:rPr b="1"/>
              <a:t>Yellow:</a:t>
            </a:r>
            <a:r>
              <a:rPr/>
              <a:t> Unverified or low-confidence statement.</a:t>
            </a:r>
          </a:p>
          <a:p>
            <a:pPr lvl="1"/>
            <a:r>
              <a:rPr/>
              <a:t>🔴 </a:t>
            </a:r>
            <a:r>
              <a:rPr b="1"/>
              <a:t>Red:</a:t>
            </a:r>
            <a:r>
              <a:rPr/>
              <a:t> Statement contradicted by source documents.</a:t>
            </a:r>
          </a:p>
          <a:p>
            <a:pPr lvl="0"/>
            <a:r>
              <a:rPr b="1"/>
              <a:t>Evidence Tooltips:</a:t>
            </a:r>
          </a:p>
          <a:p>
            <a:pPr lvl="1"/>
            <a:r>
              <a:rPr/>
              <a:t>Hovering reveals the verbatim excerpt from the official document.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Production Architecture &amp; Engineering Rigor</a:t>
            </a:r>
          </a:p>
        </p:txBody>
      </p:sp>
      <p:sp>
        <p:nvSpPr>
          <p:cNvPr id="3" name="Content Placeholder 2"/>
          <p:cNvSpPr>
            <a:spLocks noGrp="1"/>
          </p:cNvSpPr>
          <p:nvPr>
            <p:ph idx="1" sz="half"/>
          </p:nvPr>
        </p:nvSpPr>
        <p:spPr/>
        <p:txBody>
          <a:bodyPr/>
          <a:lstStyle/>
          <a:p>
            <a:pPr lvl="0" indent="0" marL="0">
              <a:spcBef>
                <a:spcPts val="3000"/>
              </a:spcBef>
              <a:buNone/>
            </a:pPr>
            <a:r>
              <a:rPr b="1"/>
              <a:t>Enterprise Packaging</a:t>
            </a:r>
          </a:p>
          <a:p>
            <a:pPr lvl="0"/>
            <a:r>
              <a:rPr b="1"/>
              <a:t>FastAPI Core:</a:t>
            </a:r>
          </a:p>
          <a:p>
            <a:pPr lvl="1"/>
            <a:r>
              <a:rPr/>
              <a:t>High concurrency, async I/O, automatic OpenAPI documentation.</a:t>
            </a:r>
          </a:p>
          <a:p>
            <a:pPr lvl="0"/>
            <a:r>
              <a:rPr b="1"/>
              <a:t>Drop-In Compatibility:</a:t>
            </a:r>
          </a:p>
          <a:p>
            <a:pPr lvl="1"/>
            <a:r>
              <a:rPr/>
              <a:t>Native </a:t>
            </a:r>
            <a:r>
              <a:rPr>
                <a:latin typeface="Courier"/>
              </a:rPr>
              <a:t>/halloumi/generate</a:t>
            </a:r>
            <a:r>
              <a:rPr/>
              <a:t> endpoint requires zero frontend code changes.</a:t>
            </a:r>
          </a:p>
          <a:p>
            <a:pPr lvl="0"/>
            <a:r>
              <a:rPr b="1"/>
              <a:t>Containerized:</a:t>
            </a:r>
          </a:p>
          <a:p>
            <a:pPr lvl="1"/>
            <a:r>
              <a:rPr/>
              <a:t>Dockerized deployment ready for Kubernetes or cloud environments.</a:t>
            </a:r>
          </a:p>
          <a:p>
            <a:pPr lvl="0"/>
            <a:r>
              <a:rPr b="1"/>
              <a:t>Model Agnostic:</a:t>
            </a:r>
          </a:p>
          <a:p>
            <a:pPr lvl="1"/>
            <a:r>
              <a:rPr/>
              <a:t>Compatible with LiteLLM, vLLM, llama.cpp, Ollama, Gemma, Llama, and Mistral.</a:t>
            </a:r>
          </a:p>
        </p:txBody>
      </p:sp>
      <p:sp>
        <p:nvSpPr>
          <p:cNvPr id="4" name="Content Placeholder 3"/>
          <p:cNvSpPr>
            <a:spLocks noGrp="1"/>
          </p:cNvSpPr>
          <p:nvPr>
            <p:ph idx="2" sz="half"/>
          </p:nvPr>
        </p:nvSpPr>
        <p:spPr/>
        <p:txBody>
          <a:bodyPr/>
          <a:lstStyle/>
          <a:p>
            <a:pPr lvl="0" indent="0" marL="0">
              <a:spcBef>
                <a:spcPts val="3000"/>
              </a:spcBef>
              <a:buNone/>
            </a:pPr>
            <a:r>
              <a:rPr b="1"/>
              <a:t>Testing &amp; Quality Assurance</a:t>
            </a:r>
          </a:p>
          <a:p>
            <a:pPr lvl="0"/>
            <a:r>
              <a:rPr b="1"/>
              <a:t>190 Automated Tests (100% Pass):</a:t>
            </a:r>
          </a:p>
          <a:p>
            <a:pPr lvl="1"/>
            <a:r>
              <a:rPr/>
              <a:t>87% coverage on </a:t>
            </a:r>
            <a:r>
              <a:rPr>
                <a:latin typeface="Courier"/>
              </a:rPr>
              <a:t>checker.py</a:t>
            </a:r>
          </a:p>
          <a:p>
            <a:pPr lvl="1"/>
            <a:r>
              <a:rPr/>
              <a:t>88% coverage on </a:t>
            </a:r>
            <a:r>
              <a:rPr>
                <a:latin typeface="Courier"/>
              </a:rPr>
              <a:t>spans.py</a:t>
            </a:r>
          </a:p>
          <a:p>
            <a:pPr lvl="1"/>
            <a:r>
              <a:rPr/>
              <a:t>95% coverage on </a:t>
            </a:r>
            <a:r>
              <a:rPr>
                <a:latin typeface="Courier"/>
              </a:rPr>
              <a:t>retriever.py</a:t>
            </a:r>
          </a:p>
          <a:p>
            <a:pPr lvl="1"/>
            <a:r>
              <a:rPr/>
              <a:t>100% coverage on </a:t>
            </a:r>
            <a:r>
              <a:rPr>
                <a:latin typeface="Courier"/>
              </a:rPr>
              <a:t>models.py</a:t>
            </a:r>
          </a:p>
          <a:p>
            <a:pPr lvl="0"/>
            <a:r>
              <a:rPr b="1"/>
              <a:t>Structured LLM Output:</a:t>
            </a:r>
          </a:p>
          <a:p>
            <a:pPr lvl="1"/>
            <a:r>
              <a:rPr/>
              <a:t>Guaranteed JSON schema enforcement via Instructor and Pydantic.</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&amp; Future Roadmap</a:t>
            </a:r>
          </a:p>
        </p:txBody>
      </p:sp>
      <p:sp>
        <p:nvSpPr>
          <p:cNvPr id="3" name="Content Placeholder 2"/>
          <p:cNvSpPr>
            <a:spLocks noGrp="1"/>
          </p:cNvSpPr>
          <p:nvPr>
            <p:ph idx="1" sz="half"/>
          </p:nvPr>
        </p:nvSpPr>
        <p:spPr/>
        <p:txBody>
          <a:bodyPr/>
          <a:lstStyle/>
          <a:p>
            <a:pPr lvl="0" indent="0" marL="0">
              <a:spcBef>
                <a:spcPts val="3000"/>
              </a:spcBef>
              <a:buNone/>
            </a:pPr>
            <a:r>
              <a:rPr b="1"/>
              <a:t>Key Takeaways</a:t>
            </a:r>
          </a:p>
          <a:p>
            <a:pPr lvl="0"/>
            <a:r>
              <a:rPr b="1"/>
              <a:t>Claim-Level Granularity:</a:t>
            </a:r>
          </a:p>
          <a:p>
            <a:pPr lvl="1"/>
            <a:r>
              <a:rPr/>
              <a:t>Replaces blind faith with verifiable, sub-sentence auditing.</a:t>
            </a:r>
          </a:p>
          <a:p>
            <a:pPr lvl="0"/>
            <a:r>
              <a:rPr b="1"/>
              <a:t>Real-World Resiliency:</a:t>
            </a:r>
          </a:p>
          <a:p>
            <a:pPr lvl="1"/>
            <a:r>
              <a:rPr/>
              <a:t>Table-preserving chunking and 4-stage span matching conquer messy data.</a:t>
            </a:r>
          </a:p>
          <a:p>
            <a:pPr lvl="0"/>
            <a:r>
              <a:rPr b="1"/>
              <a:t>Production Performance:</a:t>
            </a:r>
          </a:p>
          <a:p>
            <a:pPr lvl="1"/>
            <a:r>
              <a:rPr/>
              <a:t>KV-cache prefix reuse makes rigorous fact-checking feasible in live chat.</a:t>
            </a:r>
          </a:p>
        </p:txBody>
      </p:sp>
      <p:sp>
        <p:nvSpPr>
          <p:cNvPr id="4" name="Content Placeholder 3"/>
          <p:cNvSpPr>
            <a:spLocks noGrp="1"/>
          </p:cNvSpPr>
          <p:nvPr>
            <p:ph idx="2" sz="half"/>
          </p:nvPr>
        </p:nvSpPr>
        <p:spPr/>
        <p:txBody>
          <a:bodyPr/>
          <a:lstStyle/>
          <a:p>
            <a:pPr lvl="0" indent="0" marL="0">
              <a:spcBef>
                <a:spcPts val="3000"/>
              </a:spcBef>
              <a:buNone/>
            </a:pPr>
            <a:r>
              <a:rPr b="1"/>
              <a:t>What’s Next</a:t>
            </a:r>
          </a:p>
          <a:p>
            <a:pPr lvl="0"/>
            <a:r>
              <a:rPr b="1"/>
              <a:t>Specialized Local NLI Models:</a:t>
            </a:r>
          </a:p>
          <a:p>
            <a:pPr lvl="1"/>
            <a:r>
              <a:rPr/>
              <a:t>Transitioning routine claim checks to lightweight NLI models for sub-second classification.</a:t>
            </a:r>
          </a:p>
          <a:p>
            <a:pPr lvl="0"/>
            <a:r>
              <a:rPr b="1"/>
              <a:t>Cross-Document Consensus:</a:t>
            </a:r>
          </a:p>
          <a:p>
            <a:pPr lvl="1"/>
            <a:r>
              <a:rPr/>
              <a:t>Detecting contradictions across multiple source documents.</a:t>
            </a:r>
          </a:p>
          <a:p>
            <a:pPr lvl="0"/>
            <a:r>
              <a:rPr b="1"/>
              <a:t>Q&amp;A:</a:t>
            </a:r>
          </a:p>
          <a:p>
            <a:pPr lvl="1"/>
            <a:r>
              <a:rPr/>
              <a:t>Thank you! Open for questions.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Facts Check</dc:title>
  <dc:creator>European Environment Agency (EEA) / Plone Chatbot</dc:creator>
  <cp:keywords/>
  <dcterms:created xsi:type="dcterms:W3CDTF">2026-09-23T14:01:16Z</dcterms:created>
  <dcterms:modified xsi:type="dcterms:W3CDTF">2026-09-23T14:01:16Z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September 2026</vt:lpwstr>
  </property>
  <property fmtid="{D5CDD505-2E9C-101B-9397-08002B2CF9AE}" pid="3" name="subtitle">
    <vt:lpwstr>Automated Claim-Level Verification for Enterprise RAG</vt:lpwstr>
  </property>
</Properties>
</file>