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notesMaster" Target="notesMasters/notesMaster1.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When our chatbot generates an answer from European environmental documents, RAG Facts Check audits every single sentence in real time.</a:t>
            </a:r>
          </a:p>
          <a:p>
            <a:pPr lvl="0" indent="0" marL="0">
              <a:buNone/>
            </a:pPr>
          </a:p>
          <a:p>
            <a:pPr lvl="0" indent="0" marL="0">
              <a:buNone/>
            </a:pPr>
            <a:r>
              <a:rPr/>
              <a:t>Instead of treating the answer as one opaque block, our pipeline: 1. Decomposes the answer into atomic claims. If there’s an 8-row comparison table, it preserves row integrity and duplicates the header row across chunks so no column context is lost. 2. Batches claims together and places static source documents at the beginning of the prompt. Modern engines like vLLM and llama.cpp reuse the pre-computed KV-cache prefix, dropping verification latency down to 5 to 12 seconds. 3. Maps model evidence quotes back to exact character offsets in the original documents using a 4-stage locator that tolerates OCR artifacts, linebreaks, and smart quotes.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the user, this turns a black-box AI response into an auditable, transparent document.</a:t>
            </a:r>
          </a:p>
          <a:p>
            <a:pPr lvl="0" indent="0" marL="0">
              <a:buNone/>
            </a:pPr>
          </a:p>
          <a:p>
            <a:pPr lvl="0" indent="0" marL="0">
              <a:buNone/>
            </a:pPr>
            <a:r>
              <a:rPr/>
              <a:t>At the top, users see a calibrated 0-to-10 quality badge, like ‘8.5 / 10 Good’.</a:t>
            </a:r>
          </a:p>
          <a:p>
            <a:pPr lvl="0" indent="0" marL="0">
              <a:buNone/>
            </a:pPr>
          </a:p>
          <a:p>
            <a:pPr lvl="0" indent="0" marL="0">
              <a:buNone/>
            </a:pPr>
            <a:r>
              <a:rPr/>
              <a:t>Every sentence in the text is color-coded. Fully supported claims are highlighted in green, and clicking or hovering on them immediately reveals the exact quoted passage from official European legislation. If a claim relies on ungrounded model knowledge or lacks source evidence, it is flagged in yellow; and if the model contradicts the source, it is flagged in red.</a:t>
            </a:r>
          </a:p>
          <a:p>
            <a:pPr lvl="0" indent="0" marL="0">
              <a:buNone/>
            </a:pPr>
          </a:p>
          <a:p>
            <a:pPr lvl="0" indent="0" marL="0">
              <a:buNone/>
            </a:pPr>
            <a:r>
              <a:rPr/>
              <a:t>Because our backend directly satisfies the Halloumi endpoint contract, this integration is live today with zero modifications to the Volto frontend code.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RAG Facts Check</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Automated Claim-Level Verification for Enterprise RAG</a:t>
            </a:r>
            <a:br/>
            <a:br/>
            <a:r>
              <a:rPr/>
              <a:t>European Environment Agency (EEA) / Plone Chatbot</a:t>
            </a:r>
          </a:p>
        </p:txBody>
      </p:sp>
      <p:sp>
        <p:nvSpPr>
          <p:cNvPr id="4" name="Date Placeholder 3"/>
          <p:cNvSpPr>
            <a:spLocks noGrp="1"/>
          </p:cNvSpPr>
          <p:nvPr>
            <p:ph idx="10" sz="half" type="dt"/>
          </p:nvPr>
        </p:nvSpPr>
        <p:spPr/>
        <p:txBody>
          <a:bodyPr/>
          <a:lstStyle/>
          <a:p>
            <a:pPr lvl="0" indent="0" marL="0">
              <a:buNone/>
            </a:pPr>
            <a:r>
              <a:rPr/>
              <a:t>September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How It Works: Verification Pipeline</a:t>
            </a:r>
          </a:p>
        </p:txBody>
      </p:sp>
      <p:pic>
        <p:nvPicPr>
          <p:cNvPr descr="images/pipeline_graph.png" id="0" name="Picture 1"/>
          <p:cNvPicPr>
            <a:picLocks noGrp="1" noChangeAspect="1"/>
          </p:cNvPicPr>
          <p:nvPr/>
        </p:nvPicPr>
        <p:blipFill>
          <a:blip r:embed="rId2"/>
          <a:stretch>
            <a:fillRect/>
          </a:stretch>
        </p:blipFill>
        <p:spPr bwMode="auto">
          <a:xfrm>
            <a:off x="457200" y="1790700"/>
            <a:ext cx="8229600" cy="21844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1. Table-Aware Chunking</a:t>
            </a:r>
          </a:p>
          <a:p>
            <a:pPr lvl="0"/>
            <a:r>
              <a:rPr/>
              <a:t>Splits long responses &amp; tables row-by-row.</a:t>
            </a:r>
          </a:p>
          <a:p>
            <a:pPr lvl="0"/>
            <a:r>
              <a:rPr b="1"/>
              <a:t>Replicates table headers</a:t>
            </a:r>
            <a:r>
              <a:rPr/>
              <a:t> into every chunk so column context is never lost.</a:t>
            </a:r>
          </a:p>
        </p:txBody>
      </p:sp>
      <p:sp>
        <p:nvSpPr>
          <p:cNvPr id="4" name="Content Placeholder 3"/>
          <p:cNvSpPr>
            <a:spLocks noGrp="1"/>
          </p:cNvSpPr>
          <p:nvPr>
            <p:ph idx="2" sz="half"/>
          </p:nvPr>
        </p:nvSpPr>
        <p:spPr/>
        <p:txBody>
          <a:bodyPr/>
          <a:lstStyle/>
          <a:p>
            <a:pPr lvl="0" indent="0" marL="0">
              <a:spcBef>
                <a:spcPts val="3000"/>
              </a:spcBef>
              <a:buNone/>
            </a:pPr>
            <a:r>
              <a:rPr b="1"/>
              <a:t>2. KV-Cache Batching</a:t>
            </a:r>
          </a:p>
          <a:p>
            <a:pPr lvl="0"/>
            <a:r>
              <a:rPr/>
              <a:t>Verifies up to 20 claims simultaneously.</a:t>
            </a:r>
          </a:p>
          <a:p>
            <a:pPr lvl="0"/>
            <a:r>
              <a:rPr b="1"/>
              <a:t>Static document prefix</a:t>
            </a:r>
            <a:r>
              <a:rPr/>
              <a:t> reuses KV-cache in </a:t>
            </a:r>
            <a:r>
              <a:rPr>
                <a:latin typeface="Courier"/>
              </a:rPr>
              <a:t>vLLM</a:t>
            </a:r>
            <a:r>
              <a:rPr/>
              <a:t> / </a:t>
            </a:r>
            <a:r>
              <a:rPr>
                <a:latin typeface="Courier"/>
              </a:rPr>
              <a:t>llama.cpp</a:t>
            </a:r>
            <a:r>
              <a:rPr/>
              <a:t> (&gt;70% faster).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User Experience: Calibrated Scoring &amp; Inline Verification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Calibrated 0–10 Trust Score</a:t>
                </a:r>
              </a:p>
              <a:p>
                <a:pPr lvl="0" indent="0" marL="0">
                  <a:buNone/>
                </a:pPr>
                <a14:m>
                  <m:oMathPara xmlns:m="http://schemas.openxmlformats.org/officeDocument/2006/math">
                    <m:oMathParaPr>
                      <m:jc m:val="center"/>
                    </m:oMathParaPr>
                    <m:oMath>
                      <m:r>
                        <m:rPr>
                          <m:nor/>
                          <m:sty m:val="p"/>
                        </m:rPr>
                        <m:t>Score</m:t>
                      </m:r>
                      <m:r>
                        <m:rPr>
                          <m:sty m:val="p"/>
                        </m:rPr>
                        <m:t>=</m:t>
                      </m:r>
                      <m:r>
                        <m:rPr>
                          <m:nor/>
                          <m:sty m:val="p"/>
                        </m:rPr>
                        <m:t>clamp</m:t>
                      </m:r>
                      <m:r>
                        <m:rPr>
                          <m:sty m:val="p"/>
                        </m:rPr>
                        <m:t>(</m:t>
                      </m:r>
                      <m:r>
                        <m:rPr>
                          <m:nor/>
                          <m:sty m:val="p"/>
                        </m:rPr>
                        <m:t>Base</m:t>
                      </m:r>
                      <m:r>
                        <m:rPr>
                          <m:sty m:val="p"/>
                        </m:rPr>
                        <m:t>×</m:t>
                      </m:r>
                      <m:sSub>
                        <m:e>
                          <m:r>
                            <m:t>P</m:t>
                          </m:r>
                        </m:e>
                        <m:sub>
                          <m:r>
                            <m:rPr>
                              <m:nor/>
                              <m:sty m:val="p"/>
                            </m:rPr>
                            <m:t>cite</m:t>
                          </m:r>
                        </m:sub>
                      </m:sSub>
                      <m:r>
                        <m:rPr>
                          <m:sty m:val="p"/>
                        </m:rPr>
                        <m:t>×</m:t>
                      </m:r>
                      <m:sSub>
                        <m:e>
                          <m:r>
                            <m:t>P</m:t>
                          </m:r>
                        </m:e>
                        <m:sub>
                          <m:r>
                            <m:rPr>
                              <m:nor/>
                              <m:sty m:val="p"/>
                            </m:rPr>
                            <m:t>contra</m:t>
                          </m:r>
                        </m:sub>
                      </m:sSub>
                      <m:r>
                        <m:rPr>
                          <m:sty m:val="p"/>
                        </m:rPr>
                        <m:t>,</m:t>
                      </m:r>
                      <m:r>
                        <m:t> </m:t>
                      </m:r>
                      <m:r>
                        <m:t>0</m:t>
                      </m:r>
                      <m:r>
                        <m:rPr>
                          <m:sty m:val="p"/>
                        </m:rPr>
                        <m:t>,</m:t>
                      </m:r>
                      <m:r>
                        <m:t> </m:t>
                      </m:r>
                      <m:r>
                        <m:t>10</m:t>
                      </m:r>
                      <m:r>
                        <m:rPr>
                          <m:sty m:val="p"/>
                        </m:rPr>
                        <m:t>)</m:t>
                      </m:r>
                    </m:oMath>
                  </m:oMathPara>
                </a14:m>
              </a:p>
              <a:p>
                <a:pPr lvl="0"/>
                <a:r>
                  <a:rPr b="1"/>
                  <a:t>Deterministic Formula:</a:t>
                </a:r>
                <a:r>
                  <a:rPr/>
                  <a:t> Computed instantly without extra LLM overhead.</a:t>
                </a:r>
              </a:p>
              <a:p>
                <a:pPr lvl="0"/>
                <a:r>
                  <a:rPr b="1"/>
                  <a:t>Tiered Confidence:</a:t>
                </a:r>
              </a:p>
              <a:p>
                <a:pPr lvl="1"/>
                <a:r>
                  <a:rPr/>
                  <a:t>🟢 </a:t>
                </a:r>
                <a:r>
                  <a:rPr b="1"/>
                  <a:t>Green (Supported):</a:t>
                </a:r>
                <a:r>
                  <a:rPr/>
                  <a:t> Full credit; hoverable tooltip displays source quote.</a:t>
                </a:r>
              </a:p>
              <a:p>
                <a:pPr lvl="1"/>
                <a:r>
                  <a:rPr/>
                  <a:t>🟡 </a:t>
                </a:r>
                <a:r>
                  <a:rPr b="1"/>
                  <a:t>Yellow (Low Confidence):</a:t>
                </a:r>
                <a:r>
                  <a:rPr/>
                  <a:t> Unverified claim; warns the user.</a:t>
                </a:r>
              </a:p>
              <a:p>
                <a:pPr lvl="1"/>
                <a:r>
                  <a:rPr/>
                  <a:t>🔴 </a:t>
                </a:r>
                <a:r>
                  <a:rPr b="1"/>
                  <a:t>Red (Contradicted):</a:t>
                </a:r>
                <a:r>
                  <a:rPr/>
                  <a:t> Harsh penalty; alerts user to factual error.</a:t>
                </a:r>
              </a:p>
              <a:p>
                <a:pPr lvl="0"/>
                <a:r>
                  <a:rPr b="1"/>
                  <a:t>Drop-in Middleware:</a:t>
                </a:r>
              </a:p>
              <a:p>
                <a:pPr lvl="1"/>
                <a:r>
                  <a:rPr/>
                  <a:t>Native </a:t>
                </a:r>
                <a:r>
                  <a:rPr>
                    <a:latin typeface="Courier"/>
                  </a:rPr>
                  <a:t>/halloumi/generate</a:t>
                </a:r>
                <a:r>
                  <a:rPr/>
                  <a:t> endpoint requires zero frontend code changes in Volto.</a:t>
                </a:r>
              </a:p>
            </p:txBody>
          </p:sp>
        </mc:Choice>
      </mc:AlternateContent>
      <p:sp>
        <p:nvSpPr>
          <p:cNvPr id="4" name="Content Placeholder 3"/>
          <p:cNvSpPr>
            <a:spLocks noGrp="1"/>
          </p:cNvSpPr>
          <p:nvPr>
            <p:ph idx="2" sz="half"/>
          </p:nvPr>
        </p:nvSpPr>
        <p:spPr/>
        <p:txBody>
          <a:bodyPr/>
          <a:lstStyle/>
          <a:p>
            <a:pPr lvl="0" indent="0" marL="0">
              <a:spcBef>
                <a:spcPts val="3000"/>
              </a:spcBef>
              <a:buNone/>
            </a:pPr>
            <a:r>
              <a:rPr b="1"/>
              <a:t>[ Insert UI Screenshot Here ]</a:t>
            </a:r>
          </a:p>
          <a:p>
            <a:pPr lvl="0" indent="0">
              <a:buNone/>
            </a:pPr>
            <a:r>
              <a:rPr>
                <a:latin typeface="Courier"/>
              </a:rPr>
              <a:t>+-------------------------------------------------------------+
|  Volto Chatbot UI (volto-eea-chatbot)                       |
|                                                             |
|  [ Score Pill: 8.5 / 10 (Good) ]                            |
|                                                             |
|  The European Climate Law sets a binding net-zero           |
|  target by 2050. [1]  &lt;-- [🟢 Supported | Hover: Quote]     |
|                                                             |
|  Member states must submit reports by Dec 2024. [2]         |
|  &lt;-- [🟡 Low Confidence / Not Enough Info]                  |
+-------------------------------------------------------------+</a:t>
            </a:r>
          </a:p>
          <a:p>
            <a:pPr lvl="0" indent="0" marL="0">
              <a:buNone/>
            </a:pPr>
            <a:r>
              <a:rPr i="1"/>
              <a:t>(Drop in your actual Volto screenshot above this box)</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Facts Check</dc:title>
  <dc:creator>European Environment Agency (EEA) / Plone Chatbot</dc:creator>
  <cp:keywords/>
  <dcterms:created xsi:type="dcterms:W3CDTF">2026-09-23T12:26:37Z</dcterms:created>
  <dcterms:modified xsi:type="dcterms:W3CDTF">2026-09-23T12:26:37Z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September 2026</vt:lpwstr>
  </property>
  <property fmtid="{D5CDD505-2E9C-101B-9397-08002B2CF9AE}" pid="3" name="subtitle">
    <vt:lpwstr>Automated Claim-Level Verification for Enterprise RAG</vt:lpwstr>
  </property>
</Properties>
</file>