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
  </p:notesMasterIdLst>
  <p:sldIdLst>
    <p:sldId id="256" r:id="rId2"/>
    <p:sldId id="257" r:id="rId3"/>
    <p:sldId id="258" r:id="rId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notesMaster" Target="notesMasters/notesMaster1.xml" /><Relationship Id="rId7" Type="http://schemas.openxmlformats.org/officeDocument/2006/relationships/viewProps" Target="viewProps.xml" /><Relationship Id="rId6" Type="http://schemas.openxmlformats.org/officeDocument/2006/relationships/presProps" Target="presProps.xml" /><Relationship Id="rId1" Type="http://schemas.openxmlformats.org/officeDocument/2006/relationships/slideMaster" Target="slideMasters/slideMaster1.xml" /><Relationship Id="rId9" Type="http://schemas.openxmlformats.org/officeDocument/2006/relationships/tableStyles" Target="tableStyles.xml" /><Relationship Id="rId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the chatbot generates an answer from European environmental documents, RAG Facts Check audits every claim in real time: 1. Ingests the LLM answer alongside matched source documents. 2. Decomposes the answer into atomic claims. 3. Crossmatches each claim against referenced documents using an LLM judge. 4. Produces grounded verification verdicts, direct evidence citations, and hallucination flags.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fact-checking engine provides automated verification for enterprise RAG: - Extracts atomic factual claims from generated chatbot answers. - Checks each claim against referenced source documents using an LLM judge. - Locates verbatim evidence spans and character offsets in the source text. - Accurately detects hallucinations by flagging statements that lack document grounding (Not Enough Info). - Produces a calibrated quality score reflecting overall answer trustworthiness.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xml" /><Relationship Id="rId3" Type="http://schemas.openxmlformats.org/officeDocument/2006/relationships/image" Target="../media/image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RAG Facts Check</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Automated Claim-Level Verification for Enterprise RAG</a:t>
            </a:r>
            <a:br/>
            <a:br/>
            <a:r>
              <a:rPr/>
              <a:t>European Environment Agency (EEA)</a:t>
            </a:r>
          </a:p>
        </p:txBody>
      </p:sp>
      <p:sp>
        <p:nvSpPr>
          <p:cNvPr id="4" name="Date Placeholder 3"/>
          <p:cNvSpPr>
            <a:spLocks noGrp="1"/>
          </p:cNvSpPr>
          <p:nvPr>
            <p:ph idx="10" sz="half" type="dt"/>
          </p:nvPr>
        </p:nvSpPr>
        <p:spPr/>
        <p:txBody>
          <a:bodyPr/>
          <a:lstStyle/>
          <a:p>
            <a:pPr lvl="0" indent="0" marL="0">
              <a:buNone/>
            </a:pPr>
            <a:r>
              <a:rPr/>
              <a:t>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Verification Pipeline</a:t>
            </a:r>
          </a:p>
        </p:txBody>
      </p:sp>
      <p:pic>
        <p:nvPicPr>
          <p:cNvPr descr="images/pipeline_graph.png" id="0" name="Picture 1"/>
          <p:cNvPicPr>
            <a:picLocks noGrp="1" noChangeAspect="1"/>
          </p:cNvPicPr>
          <p:nvPr/>
        </p:nvPicPr>
        <p:blipFill>
          <a:blip r:embed="rId3"/>
          <a:stretch>
            <a:fillRect/>
          </a:stretch>
        </p:blipFill>
        <p:spPr bwMode="auto">
          <a:xfrm>
            <a:off x="457200" y="1600200"/>
            <a:ext cx="8229600" cy="2565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Claim-Level Verification &amp; Evidence</a:t>
            </a:r>
          </a:p>
        </p:txBody>
      </p:sp>
      <p:sp>
        <p:nvSpPr>
          <p:cNvPr id="3" name="Content Placeholder 2"/>
          <p:cNvSpPr>
            <a:spLocks noGrp="1"/>
          </p:cNvSpPr>
          <p:nvPr>
            <p:ph idx="1" sz="half"/>
          </p:nvPr>
        </p:nvSpPr>
        <p:spPr/>
        <p:txBody>
          <a:bodyPr/>
          <a:lstStyle/>
          <a:p>
            <a:pPr lvl="0" indent="0" marL="0">
              <a:spcBef>
                <a:spcPts val="3000"/>
              </a:spcBef>
              <a:buNone/>
            </a:pPr>
            <a:r>
              <a:rPr b="1"/>
              <a:t>Verification &amp; Grounding</a:t>
            </a:r>
          </a:p>
          <a:p>
            <a:pPr lvl="0"/>
            <a:r>
              <a:rPr b="1"/>
              <a:t>Claim Extraction:</a:t>
            </a:r>
            <a:r>
              <a:t xml:space="preserve"> </a:t>
            </a:r>
            <a:r>
              <a:rPr sz="1300"/>
              <a:t xml:space="preserve"> Decomposes answer into atomic claims</a:t>
            </a:r>
          </a:p>
          <a:p>
            <a:pPr lvl="0"/>
            <a:r>
              <a:rPr b="1"/>
              <a:t>Source Grounding:</a:t>
            </a:r>
            <a:r>
              <a:t xml:space="preserve"> </a:t>
            </a:r>
            <a:r>
              <a:rPr sz="1300"/>
              <a:t xml:space="preserve"> Verifies claims against source documents</a:t>
            </a:r>
          </a:p>
          <a:p>
            <a:pPr lvl="0"/>
            <a:r>
              <a:rPr b="1"/>
              <a:t>Verbatim Evidence:</a:t>
            </a:r>
            <a:r>
              <a:t xml:space="preserve"> </a:t>
            </a:r>
            <a:r>
              <a:rPr sz="1300"/>
              <a:t xml:space="preserve"> Locates exact quote &amp; offsets in sources</a:t>
            </a:r>
          </a:p>
          <a:p>
            <a:pPr lvl="0"/>
            <a:r>
              <a:rPr b="1"/>
              <a:t>Hallucination Detection:</a:t>
            </a:r>
            <a:r>
              <a:t xml:space="preserve"> </a:t>
            </a:r>
            <a:r>
              <a:rPr sz="1300"/>
              <a:t xml:space="preserve"> Flags ungrounded claims</a:t>
            </a:r>
          </a:p>
          <a:p>
            <a:pPr lvl="0"/>
            <a:r>
              <a:rPr b="1"/>
              <a:t>Quality Score:</a:t>
            </a:r>
            <a:r>
              <a:t xml:space="preserve"> </a:t>
            </a:r>
            <a:r>
              <a:rPr sz="1300"/>
              <a:t xml:space="preserve"> Calibrated score from supported claims</a:t>
            </a:r>
          </a:p>
        </p:txBody>
      </p:sp>
      <p:pic>
        <p:nvPicPr>
          <p:cNvPr descr="images/screenshot_placeholder.png" id="0" name="Picture 1"/>
          <p:cNvPicPr>
            <a:picLocks noGrp="1" noChangeAspect="1"/>
          </p:cNvPicPr>
          <p:nvPr/>
        </p:nvPicPr>
        <p:blipFill>
          <a:blip r:embed="rId3"/>
          <a:stretch>
            <a:fillRect/>
          </a:stretch>
        </p:blipFill>
        <p:spPr bwMode="auto">
          <a:xfrm>
            <a:off x="4648200" y="1651000"/>
            <a:ext cx="4038600" cy="2463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RAG Facts Check</dc:title>
  <dc:creator>European Environment Agency (EEA)</dc:creator>
  <cp:keywords/>
  <dcterms:created xsi:type="dcterms:W3CDTF">2026-09-23T14:01:16Z</dcterms:created>
  <dcterms:modified xsi:type="dcterms:W3CDTF">2026-09-23T14:01:16Z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September 2026</vt:lpwstr>
  </property>
  <property fmtid="{D5CDD505-2E9C-101B-9397-08002B2CF9AE}" pid="3" name="subtitle">
    <vt:lpwstr>Automated Claim-Level Verification for Enterprise RAG</vt:lpwstr>
  </property>
</Properties>
</file>